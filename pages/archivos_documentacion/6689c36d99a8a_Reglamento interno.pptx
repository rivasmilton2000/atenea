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68" r:id="rId3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81" d="100"/>
          <a:sy n="81" d="100"/>
        </p:scale>
        <p:origin x="-300" y="-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6912A-CE59-43FD-9EEB-9AB0501CF258}" type="datetimeFigureOut">
              <a:rPr lang="es-CL" smtClean="0"/>
              <a:t>15-05-2020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62523-76F9-43B6-9787-46A7AE780E6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54478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6912A-CE59-43FD-9EEB-9AB0501CF258}" type="datetimeFigureOut">
              <a:rPr lang="es-CL" smtClean="0"/>
              <a:t>15-05-2020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62523-76F9-43B6-9787-46A7AE780E6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73462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6912A-CE59-43FD-9EEB-9AB0501CF258}" type="datetimeFigureOut">
              <a:rPr lang="es-CL" smtClean="0"/>
              <a:t>15-05-2020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62523-76F9-43B6-9787-46A7AE780E6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3878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6912A-CE59-43FD-9EEB-9AB0501CF258}" type="datetimeFigureOut">
              <a:rPr lang="es-CL" smtClean="0"/>
              <a:t>15-05-2020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62523-76F9-43B6-9787-46A7AE780E6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89515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6912A-CE59-43FD-9EEB-9AB0501CF258}" type="datetimeFigureOut">
              <a:rPr lang="es-CL" smtClean="0"/>
              <a:t>15-05-2020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62523-76F9-43B6-9787-46A7AE780E6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78946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6912A-CE59-43FD-9EEB-9AB0501CF258}" type="datetimeFigureOut">
              <a:rPr lang="es-CL" smtClean="0"/>
              <a:t>15-05-2020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62523-76F9-43B6-9787-46A7AE780E6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45951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6912A-CE59-43FD-9EEB-9AB0501CF258}" type="datetimeFigureOut">
              <a:rPr lang="es-CL" smtClean="0"/>
              <a:t>15-05-2020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62523-76F9-43B6-9787-46A7AE780E6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85910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6912A-CE59-43FD-9EEB-9AB0501CF258}" type="datetimeFigureOut">
              <a:rPr lang="es-CL" smtClean="0"/>
              <a:t>15-05-2020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62523-76F9-43B6-9787-46A7AE780E6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81041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6912A-CE59-43FD-9EEB-9AB0501CF258}" type="datetimeFigureOut">
              <a:rPr lang="es-CL" smtClean="0"/>
              <a:t>15-05-2020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62523-76F9-43B6-9787-46A7AE780E6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9056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6912A-CE59-43FD-9EEB-9AB0501CF258}" type="datetimeFigureOut">
              <a:rPr lang="es-CL" smtClean="0"/>
              <a:t>15-05-2020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62523-76F9-43B6-9787-46A7AE780E6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74123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6912A-CE59-43FD-9EEB-9AB0501CF258}" type="datetimeFigureOut">
              <a:rPr lang="es-CL" smtClean="0"/>
              <a:t>15-05-2020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62523-76F9-43B6-9787-46A7AE780E6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60417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86912A-CE59-43FD-9EEB-9AB0501CF258}" type="datetimeFigureOut">
              <a:rPr lang="es-CL" smtClean="0"/>
              <a:t>15-05-2020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C62523-76F9-43B6-9787-46A7AE780E6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5265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15 Rectángulo"/>
          <p:cNvSpPr/>
          <p:nvPr/>
        </p:nvSpPr>
        <p:spPr>
          <a:xfrm>
            <a:off x="269492" y="97536"/>
            <a:ext cx="11495788" cy="66202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5" name="Rectángulo 4">
            <a:extLst>
              <a:ext uri="{FF2B5EF4-FFF2-40B4-BE49-F238E27FC236}">
                <a16:creationId xmlns="" xmlns:a16="http://schemas.microsoft.com/office/drawing/2014/main" id="{9E5EF071-DF23-4240-95B6-73DE58A20DE3}"/>
              </a:ext>
            </a:extLst>
          </p:cNvPr>
          <p:cNvSpPr/>
          <p:nvPr/>
        </p:nvSpPr>
        <p:spPr>
          <a:xfrm>
            <a:off x="363018" y="1197134"/>
            <a:ext cx="11308735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s-CL" sz="3200" b="1" dirty="0"/>
              <a:t>OBJETIVO</a:t>
            </a:r>
            <a:r>
              <a:rPr lang="es-CL" sz="3200" dirty="0" smtClean="0"/>
              <a:t>:  Aprenderás que es </a:t>
            </a:r>
            <a:r>
              <a:rPr lang="es-MX" sz="3200" dirty="0" smtClean="0"/>
              <a:t>el opuesto de un número complejo</a:t>
            </a:r>
            <a:endParaRPr lang="es-CL" sz="3200" dirty="0"/>
          </a:p>
        </p:txBody>
      </p:sp>
      <p:sp>
        <p:nvSpPr>
          <p:cNvPr id="6" name="Rectángulo 5">
            <a:extLst>
              <a:ext uri="{FF2B5EF4-FFF2-40B4-BE49-F238E27FC236}">
                <a16:creationId xmlns="" xmlns:a16="http://schemas.microsoft.com/office/drawing/2014/main" id="{9E5EF071-DF23-4240-95B6-73DE58A20DE3}"/>
              </a:ext>
            </a:extLst>
          </p:cNvPr>
          <p:cNvSpPr/>
          <p:nvPr/>
        </p:nvSpPr>
        <p:spPr>
          <a:xfrm>
            <a:off x="1614134" y="229471"/>
            <a:ext cx="8589815" cy="76944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s-MX" sz="4400" b="1" dirty="0"/>
              <a:t> Operando con números complejos</a:t>
            </a:r>
          </a:p>
        </p:txBody>
      </p:sp>
      <p:pic>
        <p:nvPicPr>
          <p:cNvPr id="1026" name="Picture 2" descr="Resultado de imagen para imagen de jovenes animad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1370" y="3428137"/>
            <a:ext cx="2953385" cy="29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Llamada de nube 1"/>
          <p:cNvSpPr/>
          <p:nvPr/>
        </p:nvSpPr>
        <p:spPr>
          <a:xfrm>
            <a:off x="1743890" y="2406423"/>
            <a:ext cx="2704011" cy="1092092"/>
          </a:xfrm>
          <a:prstGeom prst="cloudCallout">
            <a:avLst>
              <a:gd name="adj1" fmla="val 94599"/>
              <a:gd name="adj2" fmla="val 4116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uadroTexto 2"/>
          <p:cNvSpPr txBox="1"/>
          <p:nvPr/>
        </p:nvSpPr>
        <p:spPr>
          <a:xfrm>
            <a:off x="2203390" y="2583137"/>
            <a:ext cx="2103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 smtClean="0"/>
              <a:t>¿Qué es el opuesto?</a:t>
            </a:r>
            <a:endParaRPr lang="en-US" b="1" dirty="0"/>
          </a:p>
        </p:txBody>
      </p:sp>
      <p:sp>
        <p:nvSpPr>
          <p:cNvPr id="14" name="Llamada de nube 13"/>
          <p:cNvSpPr/>
          <p:nvPr/>
        </p:nvSpPr>
        <p:spPr>
          <a:xfrm>
            <a:off x="7545547" y="2304031"/>
            <a:ext cx="1985554" cy="1296876"/>
          </a:xfrm>
          <a:prstGeom prst="cloudCallout">
            <a:avLst>
              <a:gd name="adj1" fmla="val -127147"/>
              <a:gd name="adj2" fmla="val 21423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uadroTexto 14"/>
          <p:cNvSpPr txBox="1"/>
          <p:nvPr/>
        </p:nvSpPr>
        <p:spPr>
          <a:xfrm>
            <a:off x="7890037" y="2428664"/>
            <a:ext cx="15432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4800" b="1" dirty="0" smtClean="0"/>
              <a:t>? ? ?</a:t>
            </a: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2260307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Rectángulo"/>
          <p:cNvSpPr/>
          <p:nvPr/>
        </p:nvSpPr>
        <p:spPr>
          <a:xfrm>
            <a:off x="3108008" y="358370"/>
            <a:ext cx="5203065" cy="643944"/>
          </a:xfrm>
          <a:prstGeom prst="rect">
            <a:avLst/>
          </a:prstGeom>
          <a:solidFill>
            <a:schemeClr val="accent1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11" name="10 Rectángulo"/>
          <p:cNvSpPr/>
          <p:nvPr/>
        </p:nvSpPr>
        <p:spPr>
          <a:xfrm>
            <a:off x="269492" y="97536"/>
            <a:ext cx="11642236" cy="66202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ángulo 1"/>
              <p:cNvSpPr/>
              <p:nvPr/>
            </p:nvSpPr>
            <p:spPr>
              <a:xfrm>
                <a:off x="1037461" y="1620860"/>
                <a:ext cx="10106298" cy="1261884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MX" sz="3200" dirty="0" smtClean="0"/>
                  <a:t>Si </a:t>
                </a:r>
                <a14:m>
                  <m:oMath xmlns:m="http://schemas.openxmlformats.org/officeDocument/2006/math">
                    <m:r>
                      <a:rPr lang="es-MX" sz="320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s-MX" sz="32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MX" sz="32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MX" sz="32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MX" sz="32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s-MX" sz="3200" i="1" dirty="0" smtClean="0">
                        <a:latin typeface="Cambria Math" panose="02040503050406030204" pitchFamily="18" charset="0"/>
                      </a:rPr>
                      <m:t> </m:t>
                    </m:r>
                    <m:r>
                      <a:rPr lang="es-MX" sz="32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s-MX" sz="3200" dirty="0"/>
                  <a:t>, entonces su </a:t>
                </a:r>
                <a:r>
                  <a:rPr lang="es-MX" sz="3200" b="1" dirty="0" smtClean="0">
                    <a:solidFill>
                      <a:srgbClr val="FF0000"/>
                    </a:solidFill>
                  </a:rPr>
                  <a:t>opuesto </a:t>
                </a:r>
                <a:r>
                  <a:rPr lang="es-MX" sz="3200" dirty="0" smtClean="0"/>
                  <a:t>será</a:t>
                </a:r>
              </a:p>
              <a:p>
                <a:endParaRPr lang="es-MX" sz="1200" dirty="0" smtClean="0"/>
              </a:p>
              <a:p>
                <a:r>
                  <a:rPr lang="es-MX" sz="3200" dirty="0"/>
                  <a:t> </a:t>
                </a:r>
                <a:r>
                  <a:rPr lang="es-MX" sz="3200" dirty="0" smtClean="0"/>
                  <a:t>                      </a:t>
                </a:r>
                <a14:m>
                  <m:oMath xmlns:m="http://schemas.openxmlformats.org/officeDocument/2006/math">
                    <m:r>
                      <a:rPr lang="es-CL" sz="3200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           </m:t>
                    </m:r>
                    <m:r>
                      <a:rPr lang="es-MX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− </m:t>
                    </m:r>
                    <m:r>
                      <a:rPr lang="es-MX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𝒛</m:t>
                    </m:r>
                    <m:r>
                      <a:rPr lang="es-MX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=− </m:t>
                    </m:r>
                    <m:r>
                      <a:rPr lang="es-MX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s-MX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s-MX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s-MX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 </m:t>
                    </m:r>
                    <m:r>
                      <a:rPr lang="es-MX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s-MX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Rectángulo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461" y="1620860"/>
                <a:ext cx="10106298" cy="1261884"/>
              </a:xfrm>
              <a:prstGeom prst="rect">
                <a:avLst/>
              </a:prstGeom>
              <a:blipFill rotWithShape="1">
                <a:blip r:embed="rId2"/>
                <a:stretch>
                  <a:fillRect t="-5797"/>
                </a:stretch>
              </a:blipFill>
            </p:spPr>
            <p:txBody>
              <a:bodyPr/>
              <a:lstStyle/>
              <a:p>
                <a:r>
                  <a:rPr lang="es-V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ángulo 2"/>
          <p:cNvSpPr/>
          <p:nvPr/>
        </p:nvSpPr>
        <p:spPr>
          <a:xfrm>
            <a:off x="174170" y="345491"/>
            <a:ext cx="1091619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s-MX" sz="2800" dirty="0" smtClean="0">
              <a:solidFill>
                <a:prstClr val="black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049" y="3407664"/>
            <a:ext cx="1670449" cy="7437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/>
              <p:cNvSpPr/>
              <p:nvPr/>
            </p:nvSpPr>
            <p:spPr>
              <a:xfrm>
                <a:off x="355452" y="4172070"/>
                <a:ext cx="11556276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MX" sz="3200" dirty="0" smtClean="0">
                    <a:solidFill>
                      <a:prstClr val="black"/>
                    </a:solidFill>
                  </a:rPr>
                  <a:t>Si  </a:t>
                </a:r>
                <a14:m>
                  <m:oMath xmlns:m="http://schemas.openxmlformats.org/officeDocument/2006/math">
                    <m:r>
                      <a:rPr lang="es-MX" sz="32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s-MX" sz="32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=−4+5 </m:t>
                    </m:r>
                    <m:r>
                      <a:rPr lang="es-MX" sz="32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s-MX" sz="3200" dirty="0">
                    <a:solidFill>
                      <a:prstClr val="black"/>
                    </a:solidFill>
                  </a:rPr>
                  <a:t>, entonces su </a:t>
                </a:r>
                <a:r>
                  <a:rPr lang="es-MX" sz="3200" dirty="0" smtClean="0">
                    <a:solidFill>
                      <a:prstClr val="black"/>
                    </a:solidFill>
                  </a:rPr>
                  <a:t>opuesto </a:t>
                </a:r>
                <a:r>
                  <a:rPr lang="es-MX" sz="3200" dirty="0">
                    <a:solidFill>
                      <a:prstClr val="black"/>
                    </a:solidFill>
                  </a:rPr>
                  <a:t>será </a:t>
                </a:r>
                <a14:m>
                  <m:oMath xmlns:m="http://schemas.openxmlformats.org/officeDocument/2006/math">
                    <m:r>
                      <a:rPr lang="es-MX" sz="3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− </m:t>
                    </m:r>
                    <m:r>
                      <a:rPr lang="es-MX" sz="3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s-MX" sz="3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=4−5 </m:t>
                    </m:r>
                    <m:r>
                      <a:rPr lang="es-MX" sz="3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Rectá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452" y="4172070"/>
                <a:ext cx="11556276" cy="584775"/>
              </a:xfrm>
              <a:prstGeom prst="rect">
                <a:avLst/>
              </a:prstGeom>
              <a:blipFill rotWithShape="1">
                <a:blip r:embed="rId4"/>
                <a:stretch>
                  <a:fillRect l="-1319" t="-12500" b="-34375"/>
                </a:stretch>
              </a:blipFill>
            </p:spPr>
            <p:txBody>
              <a:bodyPr/>
              <a:lstStyle/>
              <a:p>
                <a:r>
                  <a:rPr lang="es-V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ángulo 7"/>
              <p:cNvSpPr/>
              <p:nvPr/>
            </p:nvSpPr>
            <p:spPr>
              <a:xfrm>
                <a:off x="357049" y="4920458"/>
                <a:ext cx="11033762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s-MX" sz="3200" dirty="0" smtClean="0">
                    <a:solidFill>
                      <a:prstClr val="black"/>
                    </a:solidFill>
                  </a:rPr>
                  <a:t>Si  </a:t>
                </a:r>
                <a14:m>
                  <m:oMath xmlns:m="http://schemas.openxmlformats.org/officeDocument/2006/math">
                    <m:r>
                      <a:rPr lang="es-MX" sz="32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s-MX" sz="32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=11 </m:t>
                    </m:r>
                    <m:r>
                      <a:rPr lang="es-MX" sz="32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s-MX" sz="3200" dirty="0">
                    <a:solidFill>
                      <a:prstClr val="black"/>
                    </a:solidFill>
                  </a:rPr>
                  <a:t>, entonces </a:t>
                </a:r>
                <a:r>
                  <a:rPr lang="es-MX" sz="3200" dirty="0" smtClean="0">
                    <a:solidFill>
                      <a:prstClr val="black"/>
                    </a:solidFill>
                  </a:rPr>
                  <a:t>su opuesto será </a:t>
                </a:r>
                <a14:m>
                  <m:oMath xmlns:m="http://schemas.openxmlformats.org/officeDocument/2006/math">
                    <m:r>
                      <a:rPr lang="es-MX" sz="3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− </m:t>
                    </m:r>
                    <m:r>
                      <a:rPr lang="es-MX" sz="3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s-MX" sz="3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=−11 </m:t>
                    </m:r>
                    <m:r>
                      <a:rPr lang="es-MX" sz="3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8" name="Rectángulo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049" y="4920458"/>
                <a:ext cx="11033762" cy="584775"/>
              </a:xfrm>
              <a:prstGeom prst="rect">
                <a:avLst/>
              </a:prstGeom>
              <a:blipFill rotWithShape="1">
                <a:blip r:embed="rId5"/>
                <a:stretch>
                  <a:fillRect l="-1436" t="-12500" b="-34375"/>
                </a:stretch>
              </a:blipFill>
            </p:spPr>
            <p:txBody>
              <a:bodyPr/>
              <a:lstStyle/>
              <a:p>
                <a:r>
                  <a:rPr lang="es-V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ángulo 8"/>
              <p:cNvSpPr/>
              <p:nvPr/>
            </p:nvSpPr>
            <p:spPr>
              <a:xfrm>
                <a:off x="357049" y="5832458"/>
                <a:ext cx="10328368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s-MX" sz="3200" dirty="0" smtClean="0">
                    <a:solidFill>
                      <a:prstClr val="black"/>
                    </a:solidFill>
                  </a:rPr>
                  <a:t>Si  </a:t>
                </a:r>
                <a14:m>
                  <m:oMath xmlns:m="http://schemas.openxmlformats.org/officeDocument/2006/math">
                    <m:r>
                      <a:rPr lang="es-MX" sz="32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s-MX" sz="32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es-MX" sz="3200" dirty="0" smtClean="0">
                    <a:solidFill>
                      <a:prstClr val="black"/>
                    </a:solidFill>
                  </a:rPr>
                  <a:t>, </a:t>
                </a:r>
                <a:r>
                  <a:rPr lang="es-MX" sz="3200" dirty="0">
                    <a:solidFill>
                      <a:prstClr val="black"/>
                    </a:solidFill>
                  </a:rPr>
                  <a:t>entonces su </a:t>
                </a:r>
                <a:r>
                  <a:rPr lang="es-MX" sz="3200" dirty="0" smtClean="0">
                    <a:solidFill>
                      <a:prstClr val="black"/>
                    </a:solidFill>
                  </a:rPr>
                  <a:t>opuesto será </a:t>
                </a:r>
                <a14:m>
                  <m:oMath xmlns:m="http://schemas.openxmlformats.org/officeDocument/2006/math">
                    <m:r>
                      <a:rPr lang="es-MX" sz="3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− </m:t>
                    </m:r>
                    <m:r>
                      <a:rPr lang="es-MX" sz="3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s-MX" sz="3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=−7</m:t>
                    </m:r>
                  </m:oMath>
                </a14:m>
                <a:endParaRPr lang="en-US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9" name="Rectángulo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049" y="5832458"/>
                <a:ext cx="10328368" cy="584775"/>
              </a:xfrm>
              <a:prstGeom prst="rect">
                <a:avLst/>
              </a:prstGeom>
              <a:blipFill rotWithShape="1">
                <a:blip r:embed="rId6"/>
                <a:stretch>
                  <a:fillRect l="-1535" t="-12500" b="-34375"/>
                </a:stretch>
              </a:blipFill>
            </p:spPr>
            <p:txBody>
              <a:bodyPr/>
              <a:lstStyle/>
              <a:p>
                <a:r>
                  <a:rPr lang="es-V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ángulo 4">
            <a:extLst>
              <a:ext uri="{FF2B5EF4-FFF2-40B4-BE49-F238E27FC236}">
                <a16:creationId xmlns:a16="http://schemas.microsoft.com/office/drawing/2014/main" xmlns="" id="{9E6481F4-EE5A-40D0-BD5E-E18A38028501}"/>
              </a:ext>
            </a:extLst>
          </p:cNvPr>
          <p:cNvSpPr/>
          <p:nvPr/>
        </p:nvSpPr>
        <p:spPr>
          <a:xfrm>
            <a:off x="3443260" y="470490"/>
            <a:ext cx="5782737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es-MX" sz="3200" b="1" dirty="0">
                <a:solidFill>
                  <a:prstClr val="black"/>
                </a:solidFill>
              </a:rPr>
              <a:t>Opuesto de un número complejo</a:t>
            </a:r>
            <a:endParaRPr lang="es-MX" sz="3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7454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8" grpId="0"/>
      <p:bldP spid="9" grpId="0"/>
    </p:bldLst>
  </p:timing>
</p:sld>
</file>

<file path=ppt/theme/theme1.xml><?xml version="1.0" encoding="utf-8"?>
<a:theme xmlns:a="http://schemas.openxmlformats.org/drawingml/2006/main" name="Plantilla de matematricas.jpg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 de matematricas.jpg</Template>
  <TotalTime>1646</TotalTime>
  <Words>55</Words>
  <Application>Microsoft Office PowerPoint</Application>
  <PresentationFormat>Personalizado</PresentationFormat>
  <Paragraphs>11</Paragraphs>
  <Slides>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3" baseType="lpstr">
      <vt:lpstr>Plantilla de matematricas.jpg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jordelvale@gmail.com</dc:creator>
  <cp:lastModifiedBy>Jcacob Salinas</cp:lastModifiedBy>
  <cp:revision>461</cp:revision>
  <dcterms:created xsi:type="dcterms:W3CDTF">2018-12-19T13:55:35Z</dcterms:created>
  <dcterms:modified xsi:type="dcterms:W3CDTF">2020-05-15T17:27:31Z</dcterms:modified>
</cp:coreProperties>
</file>